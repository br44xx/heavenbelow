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7"/>
  </p:notesMasterIdLst>
  <p:sldIdLst>
    <p:sldId id="25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notesMaster" Target="notesMasters/notesMaster1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822726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Solo project. Blueprint only, no C++.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83959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78892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799393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85025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168717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94429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50350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175648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523804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07720280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756793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2921784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8953032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2579236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4614012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645515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27996848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4564677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297187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4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14884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30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FG4017 DEVLOG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Log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69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 Mirone     BA (Hons) Game Design, Level 4, UCA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0740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Unreal Engine 5.6 using Blueprints only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the project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Twenty two assets in total: sixteen actors, two shared components, one interface, a Game Instance, one widget and one level.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103120"/>
            <a:ext cx="11091672" cy="2542032"/>
          </a:xfrm>
          <a:prstGeom prst="roundRect">
            <a:avLst>
              <a:gd name="adj" fmla="val 2158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264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" y="2185416"/>
            <a:ext cx="10927080" cy="237744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68172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Browser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level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Level 1 is one enclosed vertical shaft with six landings that alternate left and right, so all progress is downward and there is no way back up.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184708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L0</a:t>
            </a:r>
            <a:endParaRPr lang="en-US" sz="1700" dirty="0"/>
          </a:p>
        </p:txBody>
      </p:sp>
      <p:sp>
        <p:nvSpPr>
          <p:cNvPr id="5" name="Text 3"/>
          <p:cNvSpPr txBox="1"/>
          <p:nvPr/>
        </p:nvSpPr>
        <p:spPr>
          <a:xfrm>
            <a:off x="1225296" y="186537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trap, then a breakable platform that drops you in</a:t>
            </a:r>
            <a:endParaRPr lang="en-US" sz="125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2569464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L1</a:t>
            </a:r>
            <a:endParaRPr lang="en-US" sz="1700" dirty="0"/>
          </a:p>
        </p:txBody>
      </p:sp>
      <p:sp>
        <p:nvSpPr>
          <p:cNvPr id="7" name="Text 5"/>
          <p:cNvSpPr txBox="1"/>
          <p:nvPr/>
        </p:nvSpPr>
        <p:spPr>
          <a:xfrm>
            <a:off x="1225296" y="2587752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Checkpoint, air pocket and a sliding floor you must slide across</a:t>
            </a:r>
            <a:endParaRPr lang="en-US" sz="1250" dirty="0"/>
          </a:p>
        </p:txBody>
      </p:sp>
      <p:sp>
        <p:nvSpPr>
          <p:cNvPr id="8" name="Text 6"/>
          <p:cNvSpPr txBox="1"/>
          <p:nvPr/>
        </p:nvSpPr>
        <p:spPr>
          <a:xfrm>
            <a:off x="548640" y="3291840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L2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1225296" y="3310128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Torch and crystal reveal the bridge to the first Echo</a:t>
            </a:r>
            <a:endParaRPr lang="en-US" sz="1250" dirty="0"/>
          </a:p>
        </p:txBody>
      </p:sp>
      <p:sp>
        <p:nvSpPr>
          <p:cNvPr id="10" name="Text 8"/>
          <p:cNvSpPr txBox="1"/>
          <p:nvPr/>
        </p:nvSpPr>
        <p:spPr>
          <a:xfrm>
            <a:off x="548640" y="4014216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L3</a:t>
            </a:r>
            <a:endParaRPr lang="en-US" sz="1700" dirty="0"/>
          </a:p>
        </p:txBody>
      </p:sp>
      <p:sp>
        <p:nvSpPr>
          <p:cNvPr id="11" name="Text 9"/>
          <p:cNvSpPr txBox="1"/>
          <p:nvPr/>
        </p:nvSpPr>
        <p:spPr>
          <a:xfrm>
            <a:off x="1225296" y="4032504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Denizen drops the key for the locked door</a:t>
            </a:r>
            <a:endParaRPr lang="en-US" sz="1250" dirty="0"/>
          </a:p>
        </p:txBody>
      </p:sp>
      <p:sp>
        <p:nvSpPr>
          <p:cNvPr id="12" name="Text 10"/>
          <p:cNvSpPr txBox="1"/>
          <p:nvPr/>
        </p:nvSpPr>
        <p:spPr>
          <a:xfrm>
            <a:off x="548640" y="4736592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L4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225296" y="4754880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Spike trap, the second Echo, and a lever that opens the way down</a:t>
            </a:r>
            <a:endParaRPr lang="en-US" sz="1250" dirty="0"/>
          </a:p>
        </p:txBody>
      </p:sp>
      <p:sp>
        <p:nvSpPr>
          <p:cNvPr id="14" name="Text 12"/>
          <p:cNvSpPr txBox="1"/>
          <p:nvPr/>
        </p:nvSpPr>
        <p:spPr>
          <a:xfrm>
            <a:off x="548640" y="5458968"/>
            <a:ext cx="65836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7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L5</a:t>
            </a:r>
            <a:endParaRPr lang="en-US" sz="1700" dirty="0"/>
          </a:p>
        </p:txBody>
      </p:sp>
      <p:sp>
        <p:nvSpPr>
          <p:cNvPr id="15" name="Text 13"/>
          <p:cNvSpPr txBox="1"/>
          <p:nvPr/>
        </p:nvSpPr>
        <p:spPr>
          <a:xfrm>
            <a:off x="1225296" y="5477256"/>
            <a:ext cx="51206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2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Air pocket, the last Echo and the tool that ends the level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6949440" y="1664208"/>
            <a:ext cx="4690872" cy="4261104"/>
          </a:xfrm>
          <a:prstGeom prst="roundRect">
            <a:avLst>
              <a:gd name="adj" fmla="val 1288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17" name="Image 0" descr="D:/ucaprojects/devlog 2/Screenshot 2026-08-30 17264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031736" y="1746504"/>
            <a:ext cx="4526280" cy="4096512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949440" y="5961888"/>
            <a:ext cx="46908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L_SurfaceRuins, seen from outside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player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Blueprint holds every player system, and every value the design needs to tune lives on it as a variable.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949440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300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" y="1819656"/>
            <a:ext cx="6784848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7044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BP_Diver, Event Graph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818120" y="1737360"/>
            <a:ext cx="3822192" cy="4096512"/>
          </a:xfrm>
          <a:prstGeom prst="roundRect">
            <a:avLst>
              <a:gd name="adj" fmla="val 1435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8" name="Image 1" descr="D:/ucaprojects/devlog 2/Screenshot 2026-08-30 173014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7900416" y="1819656"/>
            <a:ext cx="3657600" cy="3931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7818120" y="5870448"/>
            <a:ext cx="3822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BP_Diver, variables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Jumping, sliding and dying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Jump either pulls the Diver up a held ledge or jumps normally, sliding tilts the mesh and raises walk speed, and death disables input then reloads the level at the last checkpoint.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675120" cy="1828800"/>
          </a:xfrm>
          <a:prstGeom prst="roundRect">
            <a:avLst>
              <a:gd name="adj" fmla="val 300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302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" y="1819656"/>
            <a:ext cx="6510528" cy="1664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60273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BP_Diver, jump and mantle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6675120" cy="1810512"/>
          </a:xfrm>
          <a:prstGeom prst="roundRect">
            <a:avLst>
              <a:gd name="adj" fmla="val 303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8" name="Image 1" descr="D:/ucaprojects/devlog 2/Screenshot 2026-08-30 173038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" y="4105656"/>
            <a:ext cx="6510528" cy="1645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587044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BP_Diver, slide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7543800" y="1737360"/>
            <a:ext cx="4096512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11" name="Image 2" descr="D:/ucaprojects/devlog 2/Screenshot 2026-08-30 173043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26096" y="1819656"/>
            <a:ext cx="3931920" cy="3931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543800" y="5870448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BP_Diver, death and respawn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Interacting, attacking and climbing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sphere on the Diver watches for anything that implements the interact interface, the attack sweeps for Denizens in front of the player, and two line traces look for a ledge to grab while falling.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6675120" cy="1828800"/>
          </a:xfrm>
          <a:prstGeom prst="roundRect">
            <a:avLst>
              <a:gd name="adj" fmla="val 300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304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" y="1819656"/>
            <a:ext cx="6510528" cy="166420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602736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BP_Diver, interact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48640" y="4023360"/>
            <a:ext cx="6675120" cy="1810512"/>
          </a:xfrm>
          <a:prstGeom prst="roundRect">
            <a:avLst>
              <a:gd name="adj" fmla="val 303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8" name="Image 1" descr="D:/ucaprojects/devlog 2/Screenshot 2026-08-30 17305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0936" y="4105656"/>
            <a:ext cx="6510528" cy="1645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48640" y="5870448"/>
            <a:ext cx="6675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BP_Diver, attack</a:t>
            </a:r>
            <a:endParaRPr lang="en-US" sz="1000" dirty="0"/>
          </a:p>
        </p:txBody>
      </p:sp>
      <p:sp>
        <p:nvSpPr>
          <p:cNvPr id="10" name="Shape 6"/>
          <p:cNvSpPr/>
          <p:nvPr/>
        </p:nvSpPr>
        <p:spPr>
          <a:xfrm>
            <a:off x="7543800" y="1737360"/>
            <a:ext cx="4096512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11" name="Image 2" descr="D:/ucaprojects/devlog 2/Screenshot 2026-08-30 173058.png"/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626096" y="1819656"/>
            <a:ext cx="3931920" cy="3931920"/>
          </a:xfrm>
          <a:prstGeom prst="rect">
            <a:avLst/>
          </a:prstGeom>
        </p:spPr>
      </p:pic>
      <p:sp>
        <p:nvSpPr>
          <p:cNvPr id="12" name="Text 7"/>
          <p:cNvSpPr txBox="1"/>
          <p:nvPr/>
        </p:nvSpPr>
        <p:spPr>
          <a:xfrm>
            <a:off x="7543800" y="5870448"/>
            <a:ext cx="40965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BP_Diver, ledge detection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Denizen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Denizen measures its distance to the player every frame and either walks toward them or damages them on contact with a two second cooldown.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311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" y="1819656"/>
            <a:ext cx="10927080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BP_Denizen, Event Graph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locked door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door checks the Game Instance for the key and either opens on a Timeline or tells the player through the HUD that it is still locked.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3136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" y="1819656"/>
            <a:ext cx="10927080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BP_LockedDoor, Event Graph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breakable platform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Standing on it starts a short delay, then it hides itself and drops its collision, and four seconds later it returns so the level can be replayed.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315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" y="1819656"/>
            <a:ext cx="10927080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BP_BreakablePlatform, Event Graph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a checkpoint lights it, stores the location on the Game Instance so it survives a level reload, refills oxygen and shows a toast on the HUD.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320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" y="1819656"/>
            <a:ext cx="10927080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BP_Checkpoint, Event Graph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health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reusable component handles damage for the Diver and the Denizen, clamping health, granting a second of invulnerability and firing death only once.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322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" y="1819656"/>
            <a:ext cx="10927080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BPC_Health, ApplyDamage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Oxygen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Oxygen drains on a timer and is the real clock on the level, so refilling it resets the value, clears the drowned flag and updates the HUD.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322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" y="1819656"/>
            <a:ext cx="10927080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BPC_Oxygen, RefillOxygen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spike trap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trigger box is deliberately larger than the spike mesh so the hazard is not missed at running speed, and a one second cooldown stops it draining health every frame.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1188720" y="1737360"/>
            <a:ext cx="4206240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3241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1271016" y="1819656"/>
            <a:ext cx="4041648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5870448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BP_SpikeTrap, viewport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5852160" y="1737360"/>
            <a:ext cx="5148072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8" name="Image 1" descr="D:/ucaprojects/devlog 2/Screenshot 2026-08-30 173251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5934456" y="1819656"/>
            <a:ext cx="4983480" cy="3931920"/>
          </a:xfrm>
          <a:prstGeom prst="rect">
            <a:avLst/>
          </a:prstGeom>
        </p:spPr>
      </p:pic>
      <p:sp>
        <p:nvSpPr>
          <p:cNvPr id="9" name="Text 5"/>
          <p:cNvSpPr txBox="1"/>
          <p:nvPr/>
        </p:nvSpPr>
        <p:spPr>
          <a:xfrm>
            <a:off x="5852160" y="5870448"/>
            <a:ext cx="51480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BP_SpikeTrap, Event Graph</a:t>
            </a:r>
            <a:endParaRPr lang="en-US" sz="10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key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spins to draw the eye, arms its pickup collision after a short delay so it cannot be collected inside the Denizen, and records itself on the Game Instance.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330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" y="1819656"/>
            <a:ext cx="10927080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BP_Key, Event Graph</a:t>
            </a:r>
            <a:endParaRPr lang="en-US" sz="10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lever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lever stores its target's starting position on begin play, then drives a Timeline that moves that actor by an offset set on each copy.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1091672" cy="4096512"/>
          </a:xfrm>
          <a:prstGeom prst="roundRect">
            <a:avLst>
              <a:gd name="adj" fmla="val 1339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D:/ucaprojects/devlog 2/Screenshot 2026-08-30 173319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30936" y="1819656"/>
            <a:ext cx="10927080" cy="39319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5870448"/>
            <a:ext cx="1109167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BP_Lever, Event Graph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5000"/>
              </a:lnSpc>
              <a:buNone/>
            </a:pP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700784"/>
            <a:ext cx="5376672" cy="1847088"/>
          </a:xfrm>
          <a:prstGeom prst="roundRect">
            <a:avLst>
              <a:gd name="adj" fmla="val 297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59536" y="19019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honestly</a:t>
            </a:r>
            <a:endParaRPr lang="en-US" sz="1800" dirty="0"/>
          </a:p>
        </p:txBody>
      </p:sp>
      <p:sp>
        <p:nvSpPr>
          <p:cNvPr id="6" name="Text 4"/>
          <p:cNvSpPr txBox="1"/>
          <p:nvPr/>
        </p:nvSpPr>
        <p:spPr>
          <a:xfrm>
            <a:off x="859536" y="2286000"/>
            <a:ext cx="4773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document describes five biomes and a boss. I built one biome and recorded every cut and the reason for it rather than pretending the rest was still coming.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6263640" y="1700784"/>
            <a:ext cx="5376672" cy="1847088"/>
          </a:xfrm>
          <a:prstGeom prst="roundRect">
            <a:avLst>
              <a:gd name="adj" fmla="val 297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6574536" y="19019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Components beat copies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6574536" y="2286000"/>
            <a:ext cx="4773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health once as a component meant the Diver and the Denizen shared it, so adding a second damageable actor cost minutes instead of hours.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48640" y="3840480"/>
            <a:ext cx="5376672" cy="1847088"/>
          </a:xfrm>
          <a:prstGeom prst="roundRect">
            <a:avLst>
              <a:gd name="adj" fmla="val 297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859536" y="40416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Geometry can lie</a:t>
            </a:r>
            <a:endParaRPr lang="en-US" sz="1800" dirty="0"/>
          </a:p>
        </p:txBody>
      </p:sp>
      <p:sp>
        <p:nvSpPr>
          <p:cNvPr id="12" name="Text 10"/>
          <p:cNvSpPr txBox="1"/>
          <p:nvPr/>
        </p:nvSpPr>
        <p:spPr>
          <a:xfrm>
            <a:off x="859536" y="4425696"/>
            <a:ext cx="4773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engine cube ships with a collision box over three times the size of its mesh. It read as floating above floors and stopping short of walls until I compared the two numbers directly.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6263640" y="3840480"/>
            <a:ext cx="5376672" cy="1847088"/>
          </a:xfrm>
          <a:prstGeom prst="roundRect">
            <a:avLst>
              <a:gd name="adj" fmla="val 297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74536" y="40416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 the asset, not the symptom</a:t>
            </a:r>
            <a:endParaRPr lang="en-US" sz="1800" dirty="0"/>
          </a:p>
        </p:txBody>
      </p:sp>
      <p:sp>
        <p:nvSpPr>
          <p:cNvPr id="15" name="Text 13"/>
          <p:cNvSpPr txBox="1"/>
          <p:nvPr/>
        </p:nvSpPr>
        <p:spPr>
          <a:xfrm>
            <a:off x="6574536" y="4425696"/>
            <a:ext cx="4773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of my worst bugs produced no error at all. Checking the values actually stored in the asset found in minutes what guessing had not found in hours.</a:t>
            </a:r>
            <a:endParaRPr lang="en-US" sz="12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E1422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548640" y="2148840"/>
            <a:ext cx="11091672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5400" b="1" kern="0" spc="300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GUNSMOKE MINES</a:t>
            </a:r>
            <a:endParaRPr lang="en-US" sz="54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3154680"/>
            <a:ext cx="1109167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i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Development Log</a:t>
            </a:r>
            <a:endParaRPr lang="en-US" sz="2600" dirty="0"/>
          </a:p>
        </p:txBody>
      </p:sp>
      <p:sp>
        <p:nvSpPr>
          <p:cNvPr id="5" name="Text 3"/>
          <p:cNvSpPr txBox="1"/>
          <p:nvPr/>
        </p:nvSpPr>
        <p:spPr>
          <a:xfrm>
            <a:off x="548640" y="4069080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Bruno Mirone     FGCT4017 Fundamentals of Games Design     BA (Hons) Game Design, Level 4, UCA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48640" y="4407408"/>
            <a:ext cx="1109167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in Unreal Engine 5.6 using Blueprints only</a:t>
            </a: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285424014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level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mine is one continuous level of connected rooms and corridors, blocked out from cubes.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2452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L_Mine, seen from above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120640" y="1558988"/>
            <a:ext cx="6519672" cy="4608704"/>
          </a:xfrm>
          <a:prstGeom prst="roundRect">
            <a:avLst>
              <a:gd name="adj" fmla="val 119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6" name="Image 0" descr="C:/Users/bruno/AppData/Local/Temp/claude/D--heavenbelow/33275548-3903-4325-ae04-5a9d00874dc6/scratchpad/gs_media/s03_image-3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936" y="1641284"/>
            <a:ext cx="6355080" cy="44441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135299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Everything in the project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Seventeen assets in total: eight Blueprints, a shared component, two widgets, the input set and one level.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219421"/>
            <a:ext cx="11091672" cy="2614610"/>
          </a:xfrm>
          <a:prstGeom prst="roundRect">
            <a:avLst>
              <a:gd name="adj" fmla="val 2098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C:/Users/bruno/AppData/Local/Temp/claude/D--heavenbelow/33275548-3903-4325-ae04-5a9d00874dc6/scratchpad/gs_media/s04_image-4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301717"/>
            <a:ext cx="10927080" cy="2450018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879751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Browser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90128500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Input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Enhanced Input maps WASD, Space and the left mouse button through a single mapping context.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553462" y="1733702"/>
            <a:ext cx="7082028" cy="4233672"/>
          </a:xfrm>
          <a:prstGeom prst="roundRect">
            <a:avLst>
              <a:gd name="adj" fmla="val 1296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C:/Users/bruno/AppData/Local/Temp/claude/D--heavenbelow/33275548-3903-4325-ae04-5a9d00874dc6/scratchpad/gs_media/s05_image-5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758" y="1815998"/>
            <a:ext cx="6917436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1309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IMC_gunsmoke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05197252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Player variables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tunable value lives on the player as a variable, so balancing means editing numbers rather than rewiring.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2452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BP_Player, variables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03535" y="1417320"/>
            <a:ext cx="5553883" cy="4892040"/>
          </a:xfrm>
          <a:prstGeom prst="roundRect">
            <a:avLst>
              <a:gd name="adj" fmla="val 1121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6" name="Image 0" descr="C:/Users/bruno/AppData/Local/Temp/claude/D--heavenbelow/33275548-3903-4325-ae04-5a9d00874dc6/scratchpad/gs_media/s06_image-6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85831" y="1499616"/>
            <a:ext cx="5389291" cy="472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428982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player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graph handles movement, mouse aim, the dash, shooting and respawning at the last checkpoint.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2452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BP_Player, Event Graph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785397" y="1417320"/>
            <a:ext cx="3190159" cy="4892040"/>
          </a:xfrm>
          <a:prstGeom prst="roundRect">
            <a:avLst>
              <a:gd name="adj" fmla="val 172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6" name="Image 0" descr="C:/Users/bruno/AppData/Local/Temp/claude/D--heavenbelow/33275548-3903-4325-ae04-5a9d00874dc6/scratchpad/gs_media/s07_image-7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67693" y="1499616"/>
            <a:ext cx="3025567" cy="472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9191013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Shared health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reusable component handles damage, death and health changes for the player, the bandits and the boss.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634844" y="1733702"/>
            <a:ext cx="6919265" cy="4233672"/>
          </a:xfrm>
          <a:prstGeom prst="roundRect">
            <a:avLst>
              <a:gd name="adj" fmla="val 1296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C:/Users/bruno/AppData/Local/Temp/claude/D--heavenbelow/33275548-3903-4325-ae04-5a9d00874dc6/scratchpad/gs_media/s08_image-8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17140" y="1815998"/>
            <a:ext cx="6754673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1309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BPC_Health, ApplyDamage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37883967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Bandit AI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bandit measures its distance to the player four times a second and either closes in or attacks.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512771" y="1733702"/>
            <a:ext cx="7163410" cy="4233672"/>
          </a:xfrm>
          <a:prstGeom prst="roundRect">
            <a:avLst>
              <a:gd name="adj" fmla="val 1296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C:/Users/bruno/AppData/Local/Temp/claude/D--heavenbelow/33275548-3903-4325-ae04-5a9d00874dc6/scratchpad/gs_media/s09_image-9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95067" y="1815998"/>
            <a:ext cx="6998818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1309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BP_bandit, Event Graph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2497301858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Bandit lifecycle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looping timer drives the AI, and the health component's death event destroys the actor.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2452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BP_bandit, BeginPlay and death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549024" y="1417320"/>
            <a:ext cx="3662904" cy="4892040"/>
          </a:xfrm>
          <a:prstGeom prst="roundRect">
            <a:avLst>
              <a:gd name="adj" fmla="val 1498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6" name="Image 0" descr="C:/Users/bruno/AppData/Local/Temp/claude/D--heavenbelow/33275548-3903-4325-ae04-5a9d00874dc6/scratchpad/gs_media/s10_image-10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31320" y="1499616"/>
            <a:ext cx="3498312" cy="472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582080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boss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boss reuses the bandit's logic with a much larger health pool, slower movement and heavier hits.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370353" y="1733702"/>
            <a:ext cx="7448245" cy="4233672"/>
          </a:xfrm>
          <a:prstGeom prst="roundRect">
            <a:avLst>
              <a:gd name="adj" fmla="val 1296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C:/Users/bruno/AppData/Local/Temp/claude/D--heavenbelow/33275548-3903-4325-ae04-5a9d00874dc6/scratchpad/gs_media/s11_image-11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2649" y="1815998"/>
            <a:ext cx="7283653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1309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BP_boss, Event Graph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309182555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Winning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Killing the boss creates the win widget, pauses the game and hands control back to the mouse.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553462" y="1733702"/>
            <a:ext cx="7082028" cy="4233672"/>
          </a:xfrm>
          <a:prstGeom prst="roundRect">
            <a:avLst>
              <a:gd name="adj" fmla="val 1296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C:/Users/bruno/AppData/Local/Temp/claude/D--heavenbelow/33275548-3903-4325-ae04-5a9d00874dc6/scratchpad/gs_media/s12_image-12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5758" y="1815998"/>
            <a:ext cx="6917436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1309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BP_boss, win condition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4045735961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 kinds of powerup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enumeration keeps the two powerup types readable in the graph instead of using numbers.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643409"/>
            <a:ext cx="11091672" cy="1201317"/>
          </a:xfrm>
          <a:prstGeom prst="roundRect">
            <a:avLst>
              <a:gd name="adj" fmla="val 4567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C:/Users/bruno/AppData/Local/Temp/claude/D--heavenbelow/33275548-3903-4325-ae04-5a9d00874dc6/scratchpad/gs_media/s13_image-13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725705"/>
            <a:ext cx="10927080" cy="1036725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3890446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E_Powerup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50839329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Blueprint, both powerups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single actor covers both types, chosen per copy placed in the level.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2452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BP_Powerup, viewport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123554" y="1417320"/>
            <a:ext cx="4513844" cy="4892040"/>
          </a:xfrm>
          <a:prstGeom prst="roundRect">
            <a:avLst>
              <a:gd name="adj" fmla="val 1215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6" name="Image 0" descr="C:/Users/bruno/AppData/Local/Temp/claude/D--heavenbelow/33275548-3903-4325-ae04-5a9d00874dc6/scratchpad/gs_media/s14_image-14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05850" y="1499616"/>
            <a:ext cx="4349252" cy="472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82797069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Powerup logic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switch splits into a timed speed boost that reverts itself, and a permanent damage increase.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309317" y="1733702"/>
            <a:ext cx="7570318" cy="4233672"/>
          </a:xfrm>
          <a:prstGeom prst="roundRect">
            <a:avLst>
              <a:gd name="adj" fmla="val 1296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C:/Users/bruno/AppData/Local/Temp/claude/D--heavenbelow/33275548-3903-4325-ae04-5a9d00874dc6/scratchpad/gs_media/s15_image-15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91613" y="1815998"/>
            <a:ext cx="7405726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1309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BP_Powerup, Event Graph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622597277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Checkpoints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checkpoint is a post with a box collision deliberately larger than its mesh, so it is hard to miss.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2452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BP_Checkpoint, viewport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98084" y="1417320"/>
            <a:ext cx="5364785" cy="4892040"/>
          </a:xfrm>
          <a:prstGeom prst="roundRect">
            <a:avLst>
              <a:gd name="adj" fmla="val 1121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6" name="Image 0" descr="C:/Users/bruno/AppData/Local/Temp/claude/D--heavenbelow/33275548-3903-4325-ae04-5a9d00874dc6/scratchpad/gs_media/s16_image-16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80" y="1499616"/>
            <a:ext cx="5200193" cy="472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153487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Saving your place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Touching it stores the location on the player and switches off its own collision so it only fires once.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2310394"/>
            <a:ext cx="11091672" cy="2311366"/>
          </a:xfrm>
          <a:prstGeom prst="roundRect">
            <a:avLst>
              <a:gd name="adj" fmla="val 2374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C:/Users/bruno/AppData/Local/Temp/claude/D--heavenbelow/33275548-3903-4325-ae04-5a9d00874dc6/scratchpad/gs_media/s17_image-17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936" y="2392690"/>
            <a:ext cx="10927080" cy="214677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4667480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BP_Checkpoint, Event Graph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226372187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HUD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1005840"/>
            <a:ext cx="107259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8000"/>
              </a:lnSpc>
              <a:buNone/>
            </a:pPr>
            <a:r>
              <a:rPr lang="en-US" sz="14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interface is deliberately minimal: a health bar, a key counter and a powerup label.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797607" y="1733702"/>
            <a:ext cx="6593738" cy="4233672"/>
          </a:xfrm>
          <a:prstGeom prst="roundRect">
            <a:avLst>
              <a:gd name="adj" fmla="val 1296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5" name="Image 0" descr="C:/Users/bruno/AppData/Local/Temp/claude/D--heavenbelow/33275548-3903-4325-ae04-5a9d00874dc6/scratchpad/gs_media/s18_image-18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79903" y="1815998"/>
            <a:ext cx="6429146" cy="406908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548640" y="6013094"/>
            <a:ext cx="110916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buNone/>
            </a:pPr>
            <a:r>
              <a:rPr lang="en-US" sz="1000" dirty="0">
                <a:solidFill>
                  <a:srgbClr val="8FA0B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WBP_HUD, designer</a:t>
            </a:r>
            <a:endParaRPr lang="en-US" sz="1000" dirty="0"/>
          </a:p>
        </p:txBody>
      </p:sp>
    </p:spTree>
    <p:extLst>
      <p:ext uri="{BB962C8B-B14F-4D97-AF65-F5344CB8AC3E}">
        <p14:creationId xmlns:p14="http://schemas.microsoft.com/office/powerpoint/2010/main" val="102478826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Reading the player</a:t>
            </a:r>
            <a:endParaRPr lang="en-US" sz="3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2331720"/>
            <a:ext cx="41605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24000"/>
              </a:lnSpc>
              <a:buNone/>
            </a:pPr>
            <a:r>
              <a:rPr lang="en-US" sz="160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HUD element pulls its value from the player through a bound function that runs every frame.</a:t>
            </a:r>
            <a:endParaRPr lang="en-US" sz="16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24528"/>
            <a:ext cx="4160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3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WBP_HUD, text binding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98084" y="1417320"/>
            <a:ext cx="5364785" cy="4892040"/>
          </a:xfrm>
          <a:prstGeom prst="roundRect">
            <a:avLst>
              <a:gd name="adj" fmla="val 1121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pic>
        <p:nvPicPr>
          <p:cNvPr id="6" name="Image 0" descr="C:/Users/bruno/AppData/Local/Temp/claude/D--heavenbelow/33275548-3903-4325-ae04-5a9d00874dc6/scratchpad/gs_media/s19_image-19-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0380" y="1499616"/>
            <a:ext cx="5200193" cy="47274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00066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B2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84048"/>
            <a:ext cx="11091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E8EDF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 learned</a:t>
            </a:r>
            <a:endParaRPr lang="en-US" sz="3200" dirty="0"/>
          </a:p>
        </p:txBody>
      </p:sp>
      <p:sp>
        <p:nvSpPr>
          <p:cNvPr id="3" name="Shape 1"/>
          <p:cNvSpPr/>
          <p:nvPr/>
        </p:nvSpPr>
        <p:spPr>
          <a:xfrm>
            <a:off x="548640" y="1700784"/>
            <a:ext cx="5376672" cy="1847088"/>
          </a:xfrm>
          <a:prstGeom prst="roundRect">
            <a:avLst>
              <a:gd name="adj" fmla="val 297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859536" y="19019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Scope first</a:t>
            </a:r>
            <a:endParaRPr lang="en-US" sz="1800" dirty="0"/>
          </a:p>
        </p:txBody>
      </p:sp>
      <p:sp>
        <p:nvSpPr>
          <p:cNvPr id="5" name="Text 3"/>
          <p:cNvSpPr txBox="1"/>
          <p:nvPr/>
        </p:nvSpPr>
        <p:spPr>
          <a:xfrm>
            <a:off x="859536" y="2286000"/>
            <a:ext cx="4773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design document describes seven weapons and eight powerups. I built one weapon and two powerups, and recorded every cut and the reason for it.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6263640" y="1700784"/>
            <a:ext cx="5376672" cy="1847088"/>
          </a:xfrm>
          <a:prstGeom prst="roundRect">
            <a:avLst>
              <a:gd name="adj" fmla="val 297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6574536" y="1901952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Reuse beats repetition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574536" y="2286000"/>
            <a:ext cx="4773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Writing the health system once as a component meant the player, the bandits and the boss all shared it, and the boss took minutes rather than hours.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548640" y="3840480"/>
            <a:ext cx="5376672" cy="1847088"/>
          </a:xfrm>
          <a:prstGeom prst="roundRect">
            <a:avLst>
              <a:gd name="adj" fmla="val 297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59536" y="40416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Unreal fails quietly</a:t>
            </a:r>
            <a:endParaRPr lang="en-US" sz="1800" dirty="0"/>
          </a:p>
        </p:txBody>
      </p:sp>
      <p:sp>
        <p:nvSpPr>
          <p:cNvPr id="11" name="Text 9"/>
          <p:cNvSpPr txBox="1"/>
          <p:nvPr/>
        </p:nvSpPr>
        <p:spPr>
          <a:xfrm>
            <a:off x="859536" y="4425696"/>
            <a:ext cx="4773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bugs produced no error at all. A pawn ignoring the visibility channel, a node defaulting its target to itself, a mesh whose collision was larger than the mesh.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6263640" y="3840480"/>
            <a:ext cx="5376672" cy="1847088"/>
          </a:xfrm>
          <a:prstGeom prst="roundRect">
            <a:avLst>
              <a:gd name="adj" fmla="val 2970"/>
            </a:avLst>
          </a:prstGeom>
          <a:solidFill>
            <a:srgbClr val="1E2A44"/>
          </a:solidFill>
          <a:ln w="9525">
            <a:solidFill>
              <a:srgbClr val="2C3B5C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574536" y="4041648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buNone/>
            </a:pPr>
            <a:r>
              <a:rPr lang="en-US" sz="1800" b="1" dirty="0">
                <a:solidFill>
                  <a:srgbClr val="E9A23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Debugging is a method</a:t>
            </a:r>
            <a:endParaRPr lang="en-US" sz="1800" dirty="0"/>
          </a:p>
        </p:txBody>
      </p:sp>
      <p:sp>
        <p:nvSpPr>
          <p:cNvPr id="14" name="Text 12"/>
          <p:cNvSpPr txBox="1"/>
          <p:nvPr/>
        </p:nvSpPr>
        <p:spPr>
          <a:xfrm>
            <a:off x="6574536" y="4425696"/>
            <a:ext cx="477316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ct val="116000"/>
              </a:lnSpc>
              <a:buNone/>
            </a:pPr>
            <a:r>
              <a:rPr lang="en-US" sz="1250" dirty="0">
                <a:solidFill>
                  <a:srgbClr val="E8ED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Print strings to split a problem in half, collision view to see the invisible, and checking one thing at a time. That mattered more than knowing the engine.</a:t>
            </a:r>
            <a:endParaRPr lang="en-US" sz="1250" dirty="0"/>
          </a:p>
        </p:txBody>
      </p:sp>
    </p:spTree>
    <p:extLst>
      <p:ext uri="{BB962C8B-B14F-4D97-AF65-F5344CB8AC3E}">
        <p14:creationId xmlns:p14="http://schemas.microsoft.com/office/powerpoint/2010/main" val="19572011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1463</Words>
  <Application>Microsoft Office PowerPoint</Application>
  <PresentationFormat>Widescreen</PresentationFormat>
  <Paragraphs>173</Paragraphs>
  <Slides>35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35</vt:i4>
      </vt:variant>
    </vt:vector>
  </HeadingPairs>
  <TitlesOfParts>
    <vt:vector size="39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Heaven Below - Development Log</dc:title>
  <dc:subject>PptxGenJS Presentation</dc:subject>
  <dc:creator>Bruno Mirone</dc:creator>
  <cp:lastModifiedBy>Lisa Kingston</cp:lastModifiedBy>
  <cp:revision>4</cp:revision>
  <dcterms:created xsi:type="dcterms:W3CDTF">2026-08-30T16:43:08Z</dcterms:created>
  <dcterms:modified xsi:type="dcterms:W3CDTF">2026-09-01T15:54:41Z</dcterms:modified>
</cp:coreProperties>
</file>