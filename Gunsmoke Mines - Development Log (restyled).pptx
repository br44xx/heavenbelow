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</p:sldIdLst>
  <p:notesMasterIdLst>
    <p:notesMasterId r:id="rId2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notesMaster" Target="notesMasters/notesMaster1.xml"/><Relationship Id="rId23" Type="http://schemas.openxmlformats.org/officeDocument/2006/relationships/presProps" Target="presProps.xml"/><Relationship Id="rId24" Type="http://schemas.openxmlformats.org/officeDocument/2006/relationships/viewProps" Target="viewProps.xml"/><Relationship Id="rId25" Type="http://schemas.openxmlformats.org/officeDocument/2006/relationships/theme" Target="theme/theme1.xml"/><Relationship Id="rId2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41B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E1422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2148840"/>
            <a:ext cx="1109167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spc="300" kern="0" dirty="0">
                <a:solidFill>
                  <a:srgbClr val="E8EDF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GUNSMOKE MINES</a:t>
            </a:r>
            <a:endParaRPr lang="en-US" sz="54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3154680"/>
            <a:ext cx="110916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i="1" dirty="0">
                <a:solidFill>
                  <a:srgbClr val="E9A2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Development Log</a:t>
            </a:r>
            <a:endParaRPr lang="en-US" sz="26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4069080"/>
            <a:ext cx="110916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8FA0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Bruno Mirone     FGCT4017 Fundamentals of Games Design     BA (Hons) Game Design, Level 4, UCA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4407408"/>
            <a:ext cx="110916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8FA0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in Unreal Engine 5.6 using Blueprints only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41B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110916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E8EDF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game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005840"/>
            <a:ext cx="1072591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400" dirty="0">
                <a:solidFill>
                  <a:srgbClr val="8FA0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wild west dungeon crawler seen from above. Shoot bandits, collect keys, open chests, reach checkpoints and kill the boss.</a:t>
            </a:r>
            <a:endParaRPr lang="en-US" sz="14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783080"/>
            <a:ext cx="25603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E9A2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17</a:t>
            </a:r>
            <a:endParaRPr lang="en-US" sz="54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2560320"/>
            <a:ext cx="2560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FA0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assets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3337560" y="1783080"/>
            <a:ext cx="25603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E9A2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5400" dirty="0"/>
          </a:p>
        </p:txBody>
      </p:sp>
      <p:sp>
        <p:nvSpPr>
          <p:cNvPr id="7" name="Text 5"/>
          <p:cNvSpPr txBox="1"/>
          <p:nvPr/>
        </p:nvSpPr>
        <p:spPr>
          <a:xfrm>
            <a:off x="3337560" y="2560320"/>
            <a:ext cx="2560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FA0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days to build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6126480" y="1783080"/>
            <a:ext cx="25603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E9A2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</a:t>
            </a:r>
            <a:endParaRPr lang="en-US" sz="5400" dirty="0"/>
          </a:p>
        </p:txBody>
      </p:sp>
      <p:sp>
        <p:nvSpPr>
          <p:cNvPr id="9" name="Text 7"/>
          <p:cNvSpPr txBox="1"/>
          <p:nvPr/>
        </p:nvSpPr>
        <p:spPr>
          <a:xfrm>
            <a:off x="6126480" y="2560320"/>
            <a:ext cx="2560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FA0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lines of code</a:t>
            </a:r>
            <a:endParaRPr lang="en-US" sz="1300" dirty="0"/>
          </a:p>
        </p:txBody>
      </p:sp>
      <p:sp>
        <p:nvSpPr>
          <p:cNvPr id="10" name="Text 8"/>
          <p:cNvSpPr txBox="1"/>
          <p:nvPr/>
        </p:nvSpPr>
        <p:spPr>
          <a:xfrm>
            <a:off x="8915400" y="1783080"/>
            <a:ext cx="25603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E9A2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5400" dirty="0"/>
          </a:p>
        </p:txBody>
      </p:sp>
      <p:sp>
        <p:nvSpPr>
          <p:cNvPr id="11" name="Text 9"/>
          <p:cNvSpPr txBox="1"/>
          <p:nvPr/>
        </p:nvSpPr>
        <p:spPr>
          <a:xfrm>
            <a:off x="8915400" y="2560320"/>
            <a:ext cx="2560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FA0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continuous level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548640" y="3456432"/>
            <a:ext cx="5376672" cy="1207008"/>
          </a:xfrm>
          <a:prstGeom prst="roundRect">
            <a:avLst>
              <a:gd name="adj" fmla="val 4545"/>
            </a:avLst>
          </a:prstGeom>
          <a:solidFill>
            <a:srgbClr val="1E2A44"/>
          </a:solidFill>
          <a:ln w="9525">
            <a:solidFill>
              <a:srgbClr val="2C3B5C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841248" y="3630168"/>
            <a:ext cx="4754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4FA3C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Player</a:t>
            </a:r>
            <a:endParaRPr lang="en-US" sz="1700" dirty="0"/>
          </a:p>
        </p:txBody>
      </p:sp>
      <p:sp>
        <p:nvSpPr>
          <p:cNvPr id="14" name="Text 12"/>
          <p:cNvSpPr txBox="1"/>
          <p:nvPr/>
        </p:nvSpPr>
        <p:spPr>
          <a:xfrm>
            <a:off x="841248" y="3986784"/>
            <a:ext cx="479145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E8E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WASD movement, aims at the mouse, and dashes with brief invulnerability.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6263640" y="3456432"/>
            <a:ext cx="5376672" cy="1207008"/>
          </a:xfrm>
          <a:prstGeom prst="roundRect">
            <a:avLst>
              <a:gd name="adj" fmla="val 4545"/>
            </a:avLst>
          </a:prstGeom>
          <a:solidFill>
            <a:srgbClr val="1E2A44"/>
          </a:solidFill>
          <a:ln w="9525">
            <a:solidFill>
              <a:srgbClr val="2C3B5C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6556248" y="3630168"/>
            <a:ext cx="4754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4FA3C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Combat</a:t>
            </a:r>
            <a:endParaRPr lang="en-US" sz="1700" dirty="0"/>
          </a:p>
        </p:txBody>
      </p:sp>
      <p:sp>
        <p:nvSpPr>
          <p:cNvPr id="17" name="Text 15"/>
          <p:cNvSpPr txBox="1"/>
          <p:nvPr/>
        </p:nvSpPr>
        <p:spPr>
          <a:xfrm>
            <a:off x="6556248" y="3986784"/>
            <a:ext cx="479145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E8E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hitscan weapon, and a shared health component that handles all damage.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548640" y="4919472"/>
            <a:ext cx="5376672" cy="1207008"/>
          </a:xfrm>
          <a:prstGeom prst="roundRect">
            <a:avLst>
              <a:gd name="adj" fmla="val 4545"/>
            </a:avLst>
          </a:prstGeom>
          <a:solidFill>
            <a:srgbClr val="1E2A44"/>
          </a:solidFill>
          <a:ln w="9525">
            <a:solidFill>
              <a:srgbClr val="2C3B5C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841248" y="5093208"/>
            <a:ext cx="4754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4FA3C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Enemies</a:t>
            </a:r>
            <a:endParaRPr lang="en-US" sz="1700" dirty="0"/>
          </a:p>
        </p:txBody>
      </p:sp>
      <p:sp>
        <p:nvSpPr>
          <p:cNvPr id="20" name="Text 18"/>
          <p:cNvSpPr txBox="1"/>
          <p:nvPr/>
        </p:nvSpPr>
        <p:spPr>
          <a:xfrm>
            <a:off x="841248" y="5449824"/>
            <a:ext cx="479145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E8E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Bandits chase and attack. The boss is the same logic with heavier numbers.</a:t>
            </a:r>
            <a:endParaRPr lang="en-US" sz="1250" dirty="0"/>
          </a:p>
        </p:txBody>
      </p:sp>
      <p:sp>
        <p:nvSpPr>
          <p:cNvPr id="21" name="Shape 19"/>
          <p:cNvSpPr/>
          <p:nvPr/>
        </p:nvSpPr>
        <p:spPr>
          <a:xfrm>
            <a:off x="6263640" y="4919472"/>
            <a:ext cx="5376672" cy="1207008"/>
          </a:xfrm>
          <a:prstGeom prst="roundRect">
            <a:avLst>
              <a:gd name="adj" fmla="val 4545"/>
            </a:avLst>
          </a:prstGeom>
          <a:solidFill>
            <a:srgbClr val="1E2A44"/>
          </a:solidFill>
          <a:ln w="9525">
            <a:solidFill>
              <a:srgbClr val="2C3B5C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6556248" y="5093208"/>
            <a:ext cx="4754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4FA3C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Loop</a:t>
            </a:r>
            <a:endParaRPr lang="en-US" sz="1700" dirty="0"/>
          </a:p>
        </p:txBody>
      </p:sp>
      <p:sp>
        <p:nvSpPr>
          <p:cNvPr id="23" name="Text 21"/>
          <p:cNvSpPr txBox="1"/>
          <p:nvPr/>
        </p:nvSpPr>
        <p:spPr>
          <a:xfrm>
            <a:off x="6556248" y="5449824"/>
            <a:ext cx="479145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E8E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Keys open chests, chests give powerups, and checkpoints save your place.</a:t>
            </a:r>
            <a:endParaRPr lang="en-US" sz="12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41B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110916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E8EDF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level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2331720"/>
            <a:ext cx="416052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4000"/>
              </a:lnSpc>
              <a:buNone/>
            </a:pPr>
            <a:r>
              <a:rPr lang="en-US" sz="1600" dirty="0">
                <a:solidFill>
                  <a:srgbClr val="E8E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mine is one continuous level of connected rooms and corridors, blocked out from cubes.</a:t>
            </a:r>
            <a:endParaRPr lang="en-US" sz="16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4224528"/>
            <a:ext cx="41605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E9A2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L_Mine, seen from above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120640" y="1558988"/>
            <a:ext cx="6519672" cy="4608704"/>
          </a:xfrm>
          <a:prstGeom prst="roundRect">
            <a:avLst>
              <a:gd name="adj" fmla="val 1190"/>
            </a:avLst>
          </a:prstGeom>
          <a:solidFill>
            <a:srgbClr val="1E2A44"/>
          </a:solidFill>
          <a:ln w="9525">
            <a:solidFill>
              <a:srgbClr val="2C3B5C"/>
            </a:solidFill>
            <a:prstDash val="solid"/>
          </a:ln>
        </p:spPr>
      </p:sp>
      <p:pic>
        <p:nvPicPr>
          <p:cNvPr id="6" name="Image 0" descr="C:/Users/bruno/AppData/Local/Temp/claude/D--heavenbelow/33275548-3903-4325-ae04-5a9d00874dc6/scratchpad/gs_media/s03_image-3-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202936" y="1641284"/>
            <a:ext cx="6355080" cy="4444112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41B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110916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E8EDF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Everything in the project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005840"/>
            <a:ext cx="1072591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400" dirty="0">
                <a:solidFill>
                  <a:srgbClr val="8FA0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Seventeen assets in total: eight Blueprints, a shared component, two widgets, the input set and one level.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2219421"/>
            <a:ext cx="11091672" cy="2614610"/>
          </a:xfrm>
          <a:prstGeom prst="roundRect">
            <a:avLst>
              <a:gd name="adj" fmla="val 2098"/>
            </a:avLst>
          </a:prstGeom>
          <a:solidFill>
            <a:srgbClr val="1E2A44"/>
          </a:solidFill>
          <a:ln w="9525">
            <a:solidFill>
              <a:srgbClr val="2C3B5C"/>
            </a:solidFill>
            <a:prstDash val="solid"/>
          </a:ln>
        </p:spPr>
      </p:sp>
      <p:pic>
        <p:nvPicPr>
          <p:cNvPr id="5" name="Image 0" descr="C:/Users/bruno/AppData/Local/Temp/claude/D--heavenbelow/33275548-3903-4325-ae04-5a9d00874dc6/scratchpad/gs_media/s04_image-4-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30936" y="2301717"/>
            <a:ext cx="10927080" cy="2450018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548640" y="4879751"/>
            <a:ext cx="110916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FA0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Content Browser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41B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110916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E8EDF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Input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005840"/>
            <a:ext cx="1072591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400" dirty="0">
                <a:solidFill>
                  <a:srgbClr val="8FA0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Enhanced Input maps WASD, Space and the left mouse button through a single mapping context.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2553462" y="1733702"/>
            <a:ext cx="7082028" cy="4233672"/>
          </a:xfrm>
          <a:prstGeom prst="roundRect">
            <a:avLst>
              <a:gd name="adj" fmla="val 1296"/>
            </a:avLst>
          </a:prstGeom>
          <a:solidFill>
            <a:srgbClr val="1E2A44"/>
          </a:solidFill>
          <a:ln w="9525">
            <a:solidFill>
              <a:srgbClr val="2C3B5C"/>
            </a:solidFill>
            <a:prstDash val="solid"/>
          </a:ln>
        </p:spPr>
      </p:sp>
      <p:pic>
        <p:nvPicPr>
          <p:cNvPr id="5" name="Image 0" descr="C:/Users/bruno/AppData/Local/Temp/claude/D--heavenbelow/33275548-3903-4325-ae04-5a9d00874dc6/scratchpad/gs_media/s05_image-5-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635758" y="1815998"/>
            <a:ext cx="6917436" cy="406908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548640" y="6013094"/>
            <a:ext cx="110916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FA0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IMC_gunsmoke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41B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110916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E8EDF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Player variables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2331720"/>
            <a:ext cx="416052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4000"/>
              </a:lnSpc>
              <a:buNone/>
            </a:pPr>
            <a:r>
              <a:rPr lang="en-US" sz="1600" dirty="0">
                <a:solidFill>
                  <a:srgbClr val="E8E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tunable value lives on the player as a variable, so balancing means editing numbers rather than rewiring.</a:t>
            </a:r>
            <a:endParaRPr lang="en-US" sz="16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4224528"/>
            <a:ext cx="41605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E9A2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BP_Player, variables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603535" y="1417320"/>
            <a:ext cx="5553883" cy="4892040"/>
          </a:xfrm>
          <a:prstGeom prst="roundRect">
            <a:avLst>
              <a:gd name="adj" fmla="val 1121"/>
            </a:avLst>
          </a:prstGeom>
          <a:solidFill>
            <a:srgbClr val="1E2A44"/>
          </a:solidFill>
          <a:ln w="9525">
            <a:solidFill>
              <a:srgbClr val="2C3B5C"/>
            </a:solidFill>
            <a:prstDash val="solid"/>
          </a:ln>
        </p:spPr>
      </p:sp>
      <p:pic>
        <p:nvPicPr>
          <p:cNvPr id="6" name="Image 0" descr="C:/Users/bruno/AppData/Local/Temp/claude/D--heavenbelow/33275548-3903-4325-ae04-5a9d00874dc6/scratchpad/gs_media/s06_image-6-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85831" y="1499616"/>
            <a:ext cx="5389291" cy="4727448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41B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110916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E8EDF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player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2331720"/>
            <a:ext cx="416052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4000"/>
              </a:lnSpc>
              <a:buNone/>
            </a:pPr>
            <a:r>
              <a:rPr lang="en-US" sz="1600" dirty="0">
                <a:solidFill>
                  <a:srgbClr val="E8E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graph handles movement, mouse aim, the dash, shooting and respawning at the last checkpoint.</a:t>
            </a:r>
            <a:endParaRPr lang="en-US" sz="16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4224528"/>
            <a:ext cx="41605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E9A2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BP_Player, Event Graph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6785397" y="1417320"/>
            <a:ext cx="3190159" cy="4892040"/>
          </a:xfrm>
          <a:prstGeom prst="roundRect">
            <a:avLst>
              <a:gd name="adj" fmla="val 1720"/>
            </a:avLst>
          </a:prstGeom>
          <a:solidFill>
            <a:srgbClr val="1E2A44"/>
          </a:solidFill>
          <a:ln w="9525">
            <a:solidFill>
              <a:srgbClr val="2C3B5C"/>
            </a:solidFill>
            <a:prstDash val="solid"/>
          </a:ln>
        </p:spPr>
      </p:sp>
      <p:pic>
        <p:nvPicPr>
          <p:cNvPr id="6" name="Image 0" descr="C:/Users/bruno/AppData/Local/Temp/claude/D--heavenbelow/33275548-3903-4325-ae04-5a9d00874dc6/scratchpad/gs_media/s07_image-7-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67693" y="1499616"/>
            <a:ext cx="3025567" cy="4727448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41B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110916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E8EDF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Shared health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005840"/>
            <a:ext cx="1072591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400" dirty="0">
                <a:solidFill>
                  <a:srgbClr val="8FA0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single reusable component handles damage, death and health changes for the player, the bandits and the boss.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2634844" y="1733702"/>
            <a:ext cx="6919265" cy="4233672"/>
          </a:xfrm>
          <a:prstGeom prst="roundRect">
            <a:avLst>
              <a:gd name="adj" fmla="val 1296"/>
            </a:avLst>
          </a:prstGeom>
          <a:solidFill>
            <a:srgbClr val="1E2A44"/>
          </a:solidFill>
          <a:ln w="9525">
            <a:solidFill>
              <a:srgbClr val="2C3B5C"/>
            </a:solidFill>
            <a:prstDash val="solid"/>
          </a:ln>
        </p:spPr>
      </p:sp>
      <p:pic>
        <p:nvPicPr>
          <p:cNvPr id="5" name="Image 0" descr="C:/Users/bruno/AppData/Local/Temp/claude/D--heavenbelow/33275548-3903-4325-ae04-5a9d00874dc6/scratchpad/gs_media/s08_image-8-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717140" y="1815998"/>
            <a:ext cx="6754673" cy="406908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548640" y="6013094"/>
            <a:ext cx="110916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FA0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BPC_Health, ApplyDamage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41B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110916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E8EDF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Bandit AI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005840"/>
            <a:ext cx="1072591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400" dirty="0">
                <a:solidFill>
                  <a:srgbClr val="8FA0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bandit measures its distance to the player four times a second and either closes in or attacks.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2512771" y="1733702"/>
            <a:ext cx="7163410" cy="4233672"/>
          </a:xfrm>
          <a:prstGeom prst="roundRect">
            <a:avLst>
              <a:gd name="adj" fmla="val 1296"/>
            </a:avLst>
          </a:prstGeom>
          <a:solidFill>
            <a:srgbClr val="1E2A44"/>
          </a:solidFill>
          <a:ln w="9525">
            <a:solidFill>
              <a:srgbClr val="2C3B5C"/>
            </a:solidFill>
            <a:prstDash val="solid"/>
          </a:ln>
        </p:spPr>
      </p:sp>
      <p:pic>
        <p:nvPicPr>
          <p:cNvPr id="5" name="Image 0" descr="C:/Users/bruno/AppData/Local/Temp/claude/D--heavenbelow/33275548-3903-4325-ae04-5a9d00874dc6/scratchpad/gs_media/s09_image-9-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595067" y="1815998"/>
            <a:ext cx="6998818" cy="406908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548640" y="6013094"/>
            <a:ext cx="110916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FA0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BP_bandit, Event Graph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41B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110916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E8EDF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Bandit lifecycle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2331720"/>
            <a:ext cx="416052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4000"/>
              </a:lnSpc>
              <a:buNone/>
            </a:pPr>
            <a:r>
              <a:rPr lang="en-US" sz="1600" dirty="0">
                <a:solidFill>
                  <a:srgbClr val="E8E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looping timer drives the AI, and the health component's death event destroys the actor.</a:t>
            </a:r>
            <a:endParaRPr lang="en-US" sz="16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4224528"/>
            <a:ext cx="41605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E9A2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BP_bandit, BeginPlay and death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6549024" y="1417320"/>
            <a:ext cx="3662904" cy="4892040"/>
          </a:xfrm>
          <a:prstGeom prst="roundRect">
            <a:avLst>
              <a:gd name="adj" fmla="val 1498"/>
            </a:avLst>
          </a:prstGeom>
          <a:solidFill>
            <a:srgbClr val="1E2A44"/>
          </a:solidFill>
          <a:ln w="9525">
            <a:solidFill>
              <a:srgbClr val="2C3B5C"/>
            </a:solidFill>
            <a:prstDash val="solid"/>
          </a:ln>
        </p:spPr>
      </p:sp>
      <p:pic>
        <p:nvPicPr>
          <p:cNvPr id="6" name="Image 0" descr="C:/Users/bruno/AppData/Local/Temp/claude/D--heavenbelow/33275548-3903-4325-ae04-5a9d00874dc6/scratchpad/gs_media/s10_image-10-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31320" y="1499616"/>
            <a:ext cx="3498312" cy="4727448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41B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110916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E8EDF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boss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005840"/>
            <a:ext cx="1072591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400" dirty="0">
                <a:solidFill>
                  <a:srgbClr val="8FA0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boss reuses the bandit's logic with a much larger health pool, slower movement and heavier hits.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2370353" y="1733702"/>
            <a:ext cx="7448245" cy="4233672"/>
          </a:xfrm>
          <a:prstGeom prst="roundRect">
            <a:avLst>
              <a:gd name="adj" fmla="val 1296"/>
            </a:avLst>
          </a:prstGeom>
          <a:solidFill>
            <a:srgbClr val="1E2A44"/>
          </a:solidFill>
          <a:ln w="9525">
            <a:solidFill>
              <a:srgbClr val="2C3B5C"/>
            </a:solidFill>
            <a:prstDash val="solid"/>
          </a:ln>
        </p:spPr>
      </p:sp>
      <p:pic>
        <p:nvPicPr>
          <p:cNvPr id="5" name="Image 0" descr="C:/Users/bruno/AppData/Local/Temp/claude/D--heavenbelow/33275548-3903-4325-ae04-5a9d00874dc6/scratchpad/gs_media/s11_image-11-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452649" y="1815998"/>
            <a:ext cx="7283653" cy="406908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548640" y="6013094"/>
            <a:ext cx="110916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FA0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BP_boss, Event Graph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41B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110916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E8EDF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Winning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005840"/>
            <a:ext cx="1072591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400" dirty="0">
                <a:solidFill>
                  <a:srgbClr val="8FA0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Killing the boss creates the win widget, pauses the game and hands control back to the mouse.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2553462" y="1733702"/>
            <a:ext cx="7082028" cy="4233672"/>
          </a:xfrm>
          <a:prstGeom prst="roundRect">
            <a:avLst>
              <a:gd name="adj" fmla="val 1296"/>
            </a:avLst>
          </a:prstGeom>
          <a:solidFill>
            <a:srgbClr val="1E2A44"/>
          </a:solidFill>
          <a:ln w="9525">
            <a:solidFill>
              <a:srgbClr val="2C3B5C"/>
            </a:solidFill>
            <a:prstDash val="solid"/>
          </a:ln>
        </p:spPr>
      </p:sp>
      <p:pic>
        <p:nvPicPr>
          <p:cNvPr id="5" name="Image 0" descr="C:/Users/bruno/AppData/Local/Temp/claude/D--heavenbelow/33275548-3903-4325-ae04-5a9d00874dc6/scratchpad/gs_media/s12_image-12-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635758" y="1815998"/>
            <a:ext cx="6917436" cy="406908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548640" y="6013094"/>
            <a:ext cx="110916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FA0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BP_boss, win condition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141B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110916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E8EDF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Two kinds of powerup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005840"/>
            <a:ext cx="1072591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400" dirty="0">
                <a:solidFill>
                  <a:srgbClr val="8FA0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enumeration keeps the two powerup types readable in the graph instead of using numbers.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2643409"/>
            <a:ext cx="11091672" cy="1201317"/>
          </a:xfrm>
          <a:prstGeom prst="roundRect">
            <a:avLst>
              <a:gd name="adj" fmla="val 4567"/>
            </a:avLst>
          </a:prstGeom>
          <a:solidFill>
            <a:srgbClr val="1E2A44"/>
          </a:solidFill>
          <a:ln w="9525">
            <a:solidFill>
              <a:srgbClr val="2C3B5C"/>
            </a:solidFill>
            <a:prstDash val="solid"/>
          </a:ln>
        </p:spPr>
      </p:sp>
      <p:pic>
        <p:nvPicPr>
          <p:cNvPr id="5" name="Image 0" descr="C:/Users/bruno/AppData/Local/Temp/claude/D--heavenbelow/33275548-3903-4325-ae04-5a9d00874dc6/scratchpad/gs_media/s13_image-13-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30936" y="2725705"/>
            <a:ext cx="10927080" cy="1036725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548640" y="3890446"/>
            <a:ext cx="110916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FA0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E_Powerup</a:t>
            </a:r>
            <a:endParaRPr lang="en-US" sz="1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141B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110916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E8EDF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One Blueprint, both powerups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2331720"/>
            <a:ext cx="416052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4000"/>
              </a:lnSpc>
              <a:buNone/>
            </a:pPr>
            <a:r>
              <a:rPr lang="en-US" sz="1600" dirty="0">
                <a:solidFill>
                  <a:srgbClr val="E8E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single actor covers both types, chosen per copy placed in the level.</a:t>
            </a:r>
            <a:endParaRPr lang="en-US" sz="16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4224528"/>
            <a:ext cx="41605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E9A2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BP_Powerup, viewport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6123554" y="1417320"/>
            <a:ext cx="4513844" cy="4892040"/>
          </a:xfrm>
          <a:prstGeom prst="roundRect">
            <a:avLst>
              <a:gd name="adj" fmla="val 1215"/>
            </a:avLst>
          </a:prstGeom>
          <a:solidFill>
            <a:srgbClr val="1E2A44"/>
          </a:solidFill>
          <a:ln w="9525">
            <a:solidFill>
              <a:srgbClr val="2C3B5C"/>
            </a:solidFill>
            <a:prstDash val="solid"/>
          </a:ln>
        </p:spPr>
      </p:sp>
      <p:pic>
        <p:nvPicPr>
          <p:cNvPr id="6" name="Image 0" descr="C:/Users/bruno/AppData/Local/Temp/claude/D--heavenbelow/33275548-3903-4325-ae04-5a9d00874dc6/scratchpad/gs_media/s14_image-14-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205850" y="1499616"/>
            <a:ext cx="4349252" cy="4727448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141B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110916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E8EDF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Powerup logic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005840"/>
            <a:ext cx="1072591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400" dirty="0">
                <a:solidFill>
                  <a:srgbClr val="8FA0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switch splits into a timed speed boost that reverts itself, and a permanent damage increase.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2309317" y="1733702"/>
            <a:ext cx="7570318" cy="4233672"/>
          </a:xfrm>
          <a:prstGeom prst="roundRect">
            <a:avLst>
              <a:gd name="adj" fmla="val 1296"/>
            </a:avLst>
          </a:prstGeom>
          <a:solidFill>
            <a:srgbClr val="1E2A44"/>
          </a:solidFill>
          <a:ln w="9525">
            <a:solidFill>
              <a:srgbClr val="2C3B5C"/>
            </a:solidFill>
            <a:prstDash val="solid"/>
          </a:ln>
        </p:spPr>
      </p:sp>
      <p:pic>
        <p:nvPicPr>
          <p:cNvPr id="5" name="Image 0" descr="C:/Users/bruno/AppData/Local/Temp/claude/D--heavenbelow/33275548-3903-4325-ae04-5a9d00874dc6/scratchpad/gs_media/s15_image-15-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391613" y="1815998"/>
            <a:ext cx="7405726" cy="406908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548640" y="6013094"/>
            <a:ext cx="110916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FA0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BP_Powerup, Event Graph</a:t>
            </a:r>
            <a:endParaRPr lang="en-US" sz="10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141B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110916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E8EDF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Checkpoints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2331720"/>
            <a:ext cx="416052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4000"/>
              </a:lnSpc>
              <a:buNone/>
            </a:pPr>
            <a:r>
              <a:rPr lang="en-US" sz="1600" dirty="0">
                <a:solidFill>
                  <a:srgbClr val="E8E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checkpoint is a post with a box collision deliberately larger than its mesh, so it is hard to miss.</a:t>
            </a:r>
            <a:endParaRPr lang="en-US" sz="16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4224528"/>
            <a:ext cx="41605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E9A2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BP_Checkpoint, viewport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698084" y="1417320"/>
            <a:ext cx="5364785" cy="4892040"/>
          </a:xfrm>
          <a:prstGeom prst="roundRect">
            <a:avLst>
              <a:gd name="adj" fmla="val 1121"/>
            </a:avLst>
          </a:prstGeom>
          <a:solidFill>
            <a:srgbClr val="1E2A44"/>
          </a:solidFill>
          <a:ln w="9525">
            <a:solidFill>
              <a:srgbClr val="2C3B5C"/>
            </a:solidFill>
            <a:prstDash val="solid"/>
          </a:ln>
        </p:spPr>
      </p:sp>
      <p:pic>
        <p:nvPicPr>
          <p:cNvPr id="6" name="Image 0" descr="C:/Users/bruno/AppData/Local/Temp/claude/D--heavenbelow/33275548-3903-4325-ae04-5a9d00874dc6/scratchpad/gs_media/s16_image-16-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780380" y="1499616"/>
            <a:ext cx="5200193" cy="4727448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141B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110916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E8EDF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Saving your place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005840"/>
            <a:ext cx="1072591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400" dirty="0">
                <a:solidFill>
                  <a:srgbClr val="8FA0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Touching it stores the location on the player and switches off its own collision so it only fires once.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2310394"/>
            <a:ext cx="11091672" cy="2311366"/>
          </a:xfrm>
          <a:prstGeom prst="roundRect">
            <a:avLst>
              <a:gd name="adj" fmla="val 2374"/>
            </a:avLst>
          </a:prstGeom>
          <a:solidFill>
            <a:srgbClr val="1E2A44"/>
          </a:solidFill>
          <a:ln w="9525">
            <a:solidFill>
              <a:srgbClr val="2C3B5C"/>
            </a:solidFill>
            <a:prstDash val="solid"/>
          </a:ln>
        </p:spPr>
      </p:sp>
      <p:pic>
        <p:nvPicPr>
          <p:cNvPr id="5" name="Image 0" descr="C:/Users/bruno/AppData/Local/Temp/claude/D--heavenbelow/33275548-3903-4325-ae04-5a9d00874dc6/scratchpad/gs_media/s17_image-17-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30936" y="2392690"/>
            <a:ext cx="10927080" cy="2146774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548640" y="4667480"/>
            <a:ext cx="110916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FA0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BP_Checkpoint, Event Graph</a:t>
            </a:r>
            <a:endParaRPr lang="en-US" sz="10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141B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110916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E8EDF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HUD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005840"/>
            <a:ext cx="1072591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400" dirty="0">
                <a:solidFill>
                  <a:srgbClr val="8FA0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interface is deliberately minimal: a health bar, a key counter and a powerup label.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2797607" y="1733702"/>
            <a:ext cx="6593738" cy="4233672"/>
          </a:xfrm>
          <a:prstGeom prst="roundRect">
            <a:avLst>
              <a:gd name="adj" fmla="val 1296"/>
            </a:avLst>
          </a:prstGeom>
          <a:solidFill>
            <a:srgbClr val="1E2A44"/>
          </a:solidFill>
          <a:ln w="9525">
            <a:solidFill>
              <a:srgbClr val="2C3B5C"/>
            </a:solidFill>
            <a:prstDash val="solid"/>
          </a:ln>
        </p:spPr>
      </p:sp>
      <p:pic>
        <p:nvPicPr>
          <p:cNvPr id="5" name="Image 0" descr="C:/Users/bruno/AppData/Local/Temp/claude/D--heavenbelow/33275548-3903-4325-ae04-5a9d00874dc6/scratchpad/gs_media/s18_image-18-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879903" y="1815998"/>
            <a:ext cx="6429146" cy="406908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548640" y="6013094"/>
            <a:ext cx="110916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FA0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WBP_HUD, designer</a:t>
            </a:r>
            <a:endParaRPr lang="en-US" sz="10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141B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110916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E8EDF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Reading the player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2331720"/>
            <a:ext cx="416052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4000"/>
              </a:lnSpc>
              <a:buNone/>
            </a:pPr>
            <a:r>
              <a:rPr lang="en-US" sz="1600" dirty="0">
                <a:solidFill>
                  <a:srgbClr val="E8E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HUD element pulls its value from the player through a bound function that runs every frame.</a:t>
            </a:r>
            <a:endParaRPr lang="en-US" sz="16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4224528"/>
            <a:ext cx="41605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E9A2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WBP_HUD, text binding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698084" y="1417320"/>
            <a:ext cx="5364785" cy="4892040"/>
          </a:xfrm>
          <a:prstGeom prst="roundRect">
            <a:avLst>
              <a:gd name="adj" fmla="val 1121"/>
            </a:avLst>
          </a:prstGeom>
          <a:solidFill>
            <a:srgbClr val="1E2A44"/>
          </a:solidFill>
          <a:ln w="9525">
            <a:solidFill>
              <a:srgbClr val="2C3B5C"/>
            </a:solidFill>
            <a:prstDash val="solid"/>
          </a:ln>
        </p:spPr>
      </p:sp>
      <p:pic>
        <p:nvPicPr>
          <p:cNvPr id="6" name="Image 0" descr="C:/Users/bruno/AppData/Local/Temp/claude/D--heavenbelow/33275548-3903-4325-ae04-5a9d00874dc6/scratchpad/gs_media/s19_image-19-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780380" y="1499616"/>
            <a:ext cx="5200193" cy="4727448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141B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110916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E8EDF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I learned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700784"/>
            <a:ext cx="5376672" cy="1847088"/>
          </a:xfrm>
          <a:prstGeom prst="roundRect">
            <a:avLst>
              <a:gd name="adj" fmla="val 2970"/>
            </a:avLst>
          </a:prstGeom>
          <a:solidFill>
            <a:srgbClr val="1E2A44"/>
          </a:solidFill>
          <a:ln w="9525">
            <a:solidFill>
              <a:srgbClr val="2C3B5C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859536" y="1901952"/>
            <a:ext cx="4754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E9A2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Scope first</a:t>
            </a:r>
            <a:endParaRPr lang="en-US" sz="1800" dirty="0"/>
          </a:p>
        </p:txBody>
      </p:sp>
      <p:sp>
        <p:nvSpPr>
          <p:cNvPr id="5" name="Text 3"/>
          <p:cNvSpPr txBox="1"/>
          <p:nvPr/>
        </p:nvSpPr>
        <p:spPr>
          <a:xfrm>
            <a:off x="859536" y="2286000"/>
            <a:ext cx="4773168" cy="10789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6000"/>
              </a:lnSpc>
              <a:buNone/>
            </a:pPr>
            <a:r>
              <a:rPr lang="en-US" sz="1250" dirty="0">
                <a:solidFill>
                  <a:srgbClr val="E8E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design document describes seven weapons and eight powerups. I built one weapon and two powerups, and recorded every cut and the reason for it.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6263640" y="1700784"/>
            <a:ext cx="5376672" cy="1847088"/>
          </a:xfrm>
          <a:prstGeom prst="roundRect">
            <a:avLst>
              <a:gd name="adj" fmla="val 2970"/>
            </a:avLst>
          </a:prstGeom>
          <a:solidFill>
            <a:srgbClr val="1E2A44"/>
          </a:solidFill>
          <a:ln w="9525">
            <a:solidFill>
              <a:srgbClr val="2C3B5C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6574536" y="1901952"/>
            <a:ext cx="4754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E9A2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Reuse beats repetition</a:t>
            </a:r>
            <a:endParaRPr lang="en-US" sz="1800" dirty="0"/>
          </a:p>
        </p:txBody>
      </p:sp>
      <p:sp>
        <p:nvSpPr>
          <p:cNvPr id="8" name="Text 6"/>
          <p:cNvSpPr txBox="1"/>
          <p:nvPr/>
        </p:nvSpPr>
        <p:spPr>
          <a:xfrm>
            <a:off x="6574536" y="2286000"/>
            <a:ext cx="4773168" cy="10789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6000"/>
              </a:lnSpc>
              <a:buNone/>
            </a:pPr>
            <a:r>
              <a:rPr lang="en-US" sz="1250" dirty="0">
                <a:solidFill>
                  <a:srgbClr val="E8E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Writing the health system once as a component meant the player, the bandits and the boss all shared it, and the boss took minutes rather than hours.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548640" y="3840480"/>
            <a:ext cx="5376672" cy="1847088"/>
          </a:xfrm>
          <a:prstGeom prst="roundRect">
            <a:avLst>
              <a:gd name="adj" fmla="val 2970"/>
            </a:avLst>
          </a:prstGeom>
          <a:solidFill>
            <a:srgbClr val="1E2A44"/>
          </a:solidFill>
          <a:ln w="9525">
            <a:solidFill>
              <a:srgbClr val="2C3B5C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859536" y="4041648"/>
            <a:ext cx="4754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E9A2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Unreal fails quietly</a:t>
            </a:r>
            <a:endParaRPr lang="en-US" sz="1800" dirty="0"/>
          </a:p>
        </p:txBody>
      </p:sp>
      <p:sp>
        <p:nvSpPr>
          <p:cNvPr id="11" name="Text 9"/>
          <p:cNvSpPr txBox="1"/>
          <p:nvPr/>
        </p:nvSpPr>
        <p:spPr>
          <a:xfrm>
            <a:off x="859536" y="4425696"/>
            <a:ext cx="4773168" cy="10789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6000"/>
              </a:lnSpc>
              <a:buNone/>
            </a:pPr>
            <a:r>
              <a:rPr lang="en-US" sz="1250" dirty="0">
                <a:solidFill>
                  <a:srgbClr val="E8E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 bugs produced no error at all. A pawn ignoring the visibility channel, a node defaulting its target to itself, a mesh whose collision was larger than the mesh.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6263640" y="3840480"/>
            <a:ext cx="5376672" cy="1847088"/>
          </a:xfrm>
          <a:prstGeom prst="roundRect">
            <a:avLst>
              <a:gd name="adj" fmla="val 2970"/>
            </a:avLst>
          </a:prstGeom>
          <a:solidFill>
            <a:srgbClr val="1E2A44"/>
          </a:solidFill>
          <a:ln w="9525">
            <a:solidFill>
              <a:srgbClr val="2C3B5C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6574536" y="4041648"/>
            <a:ext cx="4754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E9A2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Debugging is a method</a:t>
            </a:r>
            <a:endParaRPr lang="en-US" sz="1800" dirty="0"/>
          </a:p>
        </p:txBody>
      </p:sp>
      <p:sp>
        <p:nvSpPr>
          <p:cNvPr id="14" name="Text 12"/>
          <p:cNvSpPr txBox="1"/>
          <p:nvPr/>
        </p:nvSpPr>
        <p:spPr>
          <a:xfrm>
            <a:off x="6574536" y="4425696"/>
            <a:ext cx="4773168" cy="10789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6000"/>
              </a:lnSpc>
              <a:buNone/>
            </a:pPr>
            <a:r>
              <a:rPr lang="en-US" sz="1250" dirty="0">
                <a:solidFill>
                  <a:srgbClr val="E8E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Print strings to split a problem in half, collision view to see the invisible, and checking one thing at a time. That mattered more than knowing the engine.</a:t>
            </a:r>
            <a:endParaRPr lang="en-US" sz="12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20</Slides>
  <Notes>20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Gunsmoke Mines - Development Log</dc:title>
  <dc:subject>PptxGenJS Presentation</dc:subject>
  <dc:creator>Bruno Mirone</dc:creator>
  <cp:lastModifiedBy>Bruno Mirone</cp:lastModifiedBy>
  <cp:revision>1</cp:revision>
  <dcterms:created xsi:type="dcterms:W3CDTF">2026-08-30T16:51:38Z</dcterms:created>
  <dcterms:modified xsi:type="dcterms:W3CDTF">2026-08-30T16:51:38Z</dcterms:modified>
</cp:coreProperties>
</file>